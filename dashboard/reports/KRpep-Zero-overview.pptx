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25524191b14163" /><Relationship Type="http://schemas.openxmlformats.org/officeDocument/2006/relationships/extended-properties" Target="/docProps/app.xml" Id="R4d8dd511ad1c455b" /><Relationship Type="http://schemas.openxmlformats.org/officeDocument/2006/relationships/officeDocument" Target="/ppt/presentation.xml" Id="Ra5a282a3ea8940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042191796e46cc"/>
  </p:sldMasterIdLst>
  <p:notesMasterIdLst>
    <p:notesMasterId xmlns:r="http://schemas.openxmlformats.org/officeDocument/2006/relationships" r:id="Rae8ff5c54f444ed8"/>
  </p:notesMasterIdLst>
  <p:sldIdLst>
    <p:sldId xmlns:r="http://schemas.openxmlformats.org/officeDocument/2006/relationships" id="256" r:id="R98a3d067ec9c4e40"/>
    <p:sldId xmlns:r="http://schemas.openxmlformats.org/officeDocument/2006/relationships" id="257" r:id="Re6a9dfdb78624863"/>
    <p:sldId xmlns:r="http://schemas.openxmlformats.org/officeDocument/2006/relationships" id="258" r:id="R858ed00c549a447e"/>
    <p:sldId xmlns:r="http://schemas.openxmlformats.org/officeDocument/2006/relationships" id="259" r:id="Rfd9ebf444d57462b"/>
    <p:sldId xmlns:r="http://schemas.openxmlformats.org/officeDocument/2006/relationships" id="260" r:id="R48bed6b40117479a"/>
    <p:sldId xmlns:r="http://schemas.openxmlformats.org/officeDocument/2006/relationships" id="261" r:id="Rd3f86106bf6e4b30"/>
    <p:sldId xmlns:r="http://schemas.openxmlformats.org/officeDocument/2006/relationships" id="262" r:id="R289af4ec871d41e1"/>
    <p:sldId xmlns:r="http://schemas.openxmlformats.org/officeDocument/2006/relationships" id="263" r:id="R0cfd4c55441a4d4d"/>
    <p:sldId xmlns:r="http://schemas.openxmlformats.org/officeDocument/2006/relationships" id="264" r:id="R4a50c2647dc34c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385cff63a04e56" /><Relationship Type="http://schemas.openxmlformats.org/officeDocument/2006/relationships/slideMaster" Target="/ppt/slideMasters/slideMaster1.xml" Id="R63042191796e46cc" /><Relationship Type="http://schemas.openxmlformats.org/officeDocument/2006/relationships/notesMaster" Target="/ppt/notesMasters/notesMaster1.xml" Id="Rae8ff5c54f444ed8" /><Relationship Type="http://schemas.openxmlformats.org/officeDocument/2006/relationships/presProps" Target="/ppt/presProps.xml" Id="R2e2d73821d544e42" /><Relationship Type="http://schemas.openxmlformats.org/officeDocument/2006/relationships/tableStyles" Target="/ppt/tableStyles.xml" Id="R5d5b3879cb0349d3" /><Relationship Type="http://schemas.openxmlformats.org/officeDocument/2006/relationships/slide" Target="/ppt/slides/slide1.xml" Id="R98a3d067ec9c4e40" /><Relationship Type="http://schemas.openxmlformats.org/officeDocument/2006/relationships/slide" Target="/ppt/slides/slide2.xml" Id="Re6a9dfdb78624863" /><Relationship Type="http://schemas.openxmlformats.org/officeDocument/2006/relationships/slide" Target="/ppt/slides/slide3.xml" Id="R858ed00c549a447e" /><Relationship Type="http://schemas.openxmlformats.org/officeDocument/2006/relationships/slide" Target="/ppt/slides/slide4.xml" Id="Rfd9ebf444d57462b" /><Relationship Type="http://schemas.openxmlformats.org/officeDocument/2006/relationships/slide" Target="/ppt/slides/slide5.xml" Id="R48bed6b40117479a" /><Relationship Type="http://schemas.openxmlformats.org/officeDocument/2006/relationships/slide" Target="/ppt/slides/slide6.xml" Id="Rd3f86106bf6e4b30" /><Relationship Type="http://schemas.openxmlformats.org/officeDocument/2006/relationships/slide" Target="/ppt/slides/slide7.xml" Id="R289af4ec871d41e1" /><Relationship Type="http://schemas.openxmlformats.org/officeDocument/2006/relationships/slide" Target="/ppt/slides/slide8.xml" Id="R0cfd4c55441a4d4d" /><Relationship Type="http://schemas.openxmlformats.org/officeDocument/2006/relationships/slide" Target="/ppt/slides/slide9.xml" Id="R4a50c2647dc34c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7f8597b19844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4d9c17f6e84afb" /><Relationship Type="http://schemas.openxmlformats.org/officeDocument/2006/relationships/notesMaster" Target="/ppt/notesMasters/notesMaster1.xml" Id="R0910d8ff912043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9a26d3b12c4df5" /><Relationship Type="http://schemas.openxmlformats.org/officeDocument/2006/relationships/notesMaster" Target="/ppt/notesMasters/notesMaster1.xml" Id="Rcf2253c8e21e40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e46d2eea794672" /><Relationship Type="http://schemas.openxmlformats.org/officeDocument/2006/relationships/notesMaster" Target="/ppt/notesMasters/notesMaster1.xml" Id="R37b113fc61d846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540bb03e934bfb" /><Relationship Type="http://schemas.openxmlformats.org/officeDocument/2006/relationships/notesMaster" Target="/ppt/notesMasters/notesMaster1.xml" Id="R60bd3d2882b242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42ed6aa8024688" /><Relationship Type="http://schemas.openxmlformats.org/officeDocument/2006/relationships/notesMaster" Target="/ppt/notesMasters/notesMaster1.xml" Id="R438cb653c02b49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6673e9bd264108" /><Relationship Type="http://schemas.openxmlformats.org/officeDocument/2006/relationships/notesMaster" Target="/ppt/notesMasters/notesMaster1.xml" Id="R883a5bc3f5d946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a10a71a77a4bc8" /><Relationship Type="http://schemas.openxmlformats.org/officeDocument/2006/relationships/notesMaster" Target="/ppt/notesMasters/notesMaster1.xml" Id="R4ee9fdf1c9a945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ce505f426e4909" /><Relationship Type="http://schemas.openxmlformats.org/officeDocument/2006/relationships/notesMaster" Target="/ppt/notesMasters/notesMaster1.xml" Id="R75104a132e3c4c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430fbbffd94225" /><Relationship Type="http://schemas.openxmlformats.org/officeDocument/2006/relationships/notesMaster" Target="/ppt/notesMasters/notesMaster1.xml" Id="R379a339a97884c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computational validation study around a GDP-state KRAS G12D reference. This deck reports recorded outcomes and limits; it does not claim a binder or therapeutic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Sogabe et al., 2017, PMID 28740607, DOI 10.1021/acsmedchemlett.7b00128; RCSB 5XCO. The displayed assay ratios are arithmetic from the published SPR KD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ESMC300M is a sequence-model diagnostic. It does not measure pocket affinity. Method context from PROVENANCE.md and the retained ESMC metadata.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results/CALIBRATION_REPORT.md and dashboard/data/per-seed.csv. Pair ipTM is the arithmetic mean of parsed directional fields after chain mapping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results/REMEDIATION_V2_REPORT.md; results/control-remediation-v2-002/; PROTOCOL_REMEDIATION_V2.md. Chemistry pass means all 183 bonds and 20 stereocenters passed in every seed.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results/REMEDIATION_V2_REPORT.md and dashboard/data/v2-gate-summary.json. Positive core RMSDs after fitting target Cα1–169: 21.3955, 12.2365, 11.0290 Å for seeds 17, 42, 101.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literature: Lim et al., PMC8672774; Guan/Keating, PMC12518507, DOI 10.1002/pro.70331; Li et al., 2026, unreviewed preprint, DOI 10.64898/2026.08.20.746104.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from PROVENANCE.md and v2 report. This is a reproducible validation study; successful binder discovery is not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PROTOCOL_PROTENIX_DIAGNOSTIC.md and results/submission/protenix-diagnostic-summary.json. Protenix-v2 failed at upstream checkpoint download with HTTP 403 before scientific outputs. The completed base diagnostic produced six CIFs, 0/41 native contacts in seeds 17, 42 and 101, positive-control core RMSDs 29.06 / 30.93 / 30.58 Å, and failed chemistry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9bb7cb012148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65754d075a4d0d" /><Relationship Type="http://schemas.openxmlformats.org/officeDocument/2006/relationships/slideLayout" Target="/ppt/slideLayouts/slideLayout1.xml" Id="R2d8f790fa23148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8f790fa23148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8d010af0c4bff" /><Relationship Type="http://schemas.openxmlformats.org/officeDocument/2006/relationships/notesSlide" Target="/ppt/notesSlides/notesSlide1.xml" Id="R180789bf975543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8ff4a533541ec" /><Relationship Type="http://schemas.openxmlformats.org/officeDocument/2006/relationships/image" Target="/ppt/media/image.png" Id="R6aedd110d041481e" /><Relationship Type="http://schemas.openxmlformats.org/officeDocument/2006/relationships/notesSlide" Target="/ppt/notesSlides/notesSlide2.xml" Id="Rc3ca9f0a577749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041e724b14038" /><Relationship Type="http://schemas.openxmlformats.org/officeDocument/2006/relationships/notesSlide" Target="/ppt/notesSlides/notesSlide3.xml" Id="Rdd8926ff082448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ed7bd15864dc2" /><Relationship Type="http://schemas.openxmlformats.org/officeDocument/2006/relationships/chart" Target="/ppt/slides/charts/chart1.xml" Id="R08c9bb0558aa4bd6" /><Relationship Type="http://schemas.openxmlformats.org/officeDocument/2006/relationships/notesSlide" Target="/ppt/notesSlides/notesSlide4.xml" Id="R97068bc593ae44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a214532fe43aa" /><Relationship Type="http://schemas.openxmlformats.org/officeDocument/2006/relationships/notesSlide" Target="/ppt/notesSlides/notesSlide5.xml" Id="Rde1ca2d055fe49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50ff3845d4136" /><Relationship Type="http://schemas.openxmlformats.org/officeDocument/2006/relationships/chart" Target="/ppt/slides/charts/chart2.xml" Id="R69941020d3fe4492" /><Relationship Type="http://schemas.openxmlformats.org/officeDocument/2006/relationships/notesSlide" Target="/ppt/notesSlides/notesSlide6.xml" Id="R801ce790483844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afa18ce1d47c0" /><Relationship Type="http://schemas.openxmlformats.org/officeDocument/2006/relationships/notesSlide" Target="/ppt/notesSlides/notesSlide7.xml" Id="R88eeded78b2348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9354fb4734587" /><Relationship Type="http://schemas.openxmlformats.org/officeDocument/2006/relationships/notesSlide" Target="/ppt/notesSlides/notesSlide8.xml" Id="R799fd5748a424b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baeb4849e44e4" /><Relationship Type="http://schemas.openxmlformats.org/officeDocument/2006/relationships/notesSlide" Target="/ppt/notesSlides/notesSlide9.xml" Id="R5a1fe53c4c04451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KRpep-2d</c:v>
          </c:tx>
          <c:spPr>
            <a:solidFill xmlns:a="http://schemas.openxmlformats.org/drawingml/2006/main">
              <a:srgbClr val="16B8A6"/>
            </a:solidFill>
          </c:spPr>
          <c:cat>
            <c:strRef>
              <c:f>'Chart Data'!$A$2:$A$4</c:f>
              <c:strCache>
                <c:ptCount val="3"/>
                <c:pt idx="0">
                  <c:v>Seed 17</c:v>
                </c:pt>
                <c:pt idx="1">
                  <c:v>Seed 42</c:v>
                </c:pt>
                <c:pt idx="2">
                  <c:v>Seed 101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0.909436</c:v>
                </c:pt>
                <c:pt idx="1">
                  <c:v>0.946232</c:v>
                </c:pt>
                <c:pt idx="2">
                  <c:v>0.899421</c:v>
                </c:pt>
              </c:numCache>
            </c:numRef>
          </c:val>
        </c:ser>
        <c:ser>
          <c:idx val="1"/>
          <c:order val="1"/>
          <c:tx>
            <c:v>SCRAMBLE</c:v>
          </c:tx>
          <c:spPr>
            <a:solidFill xmlns:a="http://schemas.openxmlformats.org/drawingml/2006/main">
              <a:srgbClr val="E75288"/>
            </a:solidFill>
          </c:spPr>
          <c:cat>
            <c:strRef>
              <c:f>'Chart Data'!$C$2:$C$4</c:f>
              <c:strCache>
                <c:ptCount val="3"/>
                <c:pt idx="0">
                  <c:v>Seed 17</c:v>
                </c:pt>
                <c:pt idx="1">
                  <c:v>Seed 42</c:v>
                </c:pt>
                <c:pt idx="2">
                  <c:v>Seed 101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0.906377</c:v>
                </c:pt>
                <c:pt idx="1">
                  <c:v>0.939061</c:v>
                </c:pt>
                <c:pt idx="2">
                  <c:v>0.921256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Positive core Cα RMSD (Å)</c:v>
          </c:tx>
          <c:spPr>
            <a:solidFill xmlns:a="http://schemas.openxmlformats.org/drawingml/2006/main">
              <a:srgbClr val="16B8A6"/>
            </a:solidFill>
          </c:spPr>
          <c:cat>
            <c:strRef>
              <c:f>'Chart Data'!$A$2:$A$4</c:f>
              <c:strCache>
                <c:ptCount val="3"/>
                <c:pt idx="0">
                  <c:v>Seed 17</c:v>
                </c:pt>
                <c:pt idx="1">
                  <c:v>Seed 42</c:v>
                </c:pt>
                <c:pt idx="2">
                  <c:v>Seed 101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21.3955</c:v>
                </c:pt>
                <c:pt idx="1">
                  <c:v>12.2365</c:v>
                </c:pt>
                <c:pt idx="2">
                  <c:v>11.029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D582A-5305-4963-A1CE-9A7932AF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70C8B-77C9-4EFB-B2A9-13854952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35674-BE99-43BD-A0D2-31766B04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KRpep-Zero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E1F16-BF78-4C43-9336-5E700F76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ED6D0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6ED6D0"/>
                </a:solidFill>
                <a:latin typeface="Aptos"/>
                <a:ea typeface="Aptos"/>
                <a:cs typeface="Aptos"/>
              </a:rPr>
              <a:t>Chemistry and control validation for KRAS peptide modeling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B8078-0C73-4194-9400-925C0EF8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Study overview  |  15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1AEBC-CF67-429F-B905-83FDC2BD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8E8E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8EE"/>
                </a:solidFill>
                <a:latin typeface="Aptos"/>
                <a:ea typeface="Aptos"/>
                <a:cs typeface="Aptos"/>
              </a:rPr>
              <a:t>Decision-ready evidence from 18 retained control predictions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702C2-8BA8-4D05-8D87-6EA917E9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E8E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8EE"/>
                </a:solidFill>
                <a:latin typeface="Aptos"/>
                <a:ea typeface="Aptos"/>
                <a:cs typeface="Aptos"/>
              </a:rPr>
              <a:t>12 Boltz + 6 Protenix  |  2 control identities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0385E-0FA8-41D4-BF56-2ABFFD10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28750"/>
            <a:ext cx="2381250" cy="23812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6B8A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42255-DF10-4B98-877E-EE4D208A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0"/>
            <a:ext cx="1428750" cy="1428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7528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0DD0A-C007-410F-82D4-732A8332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384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D183B-BD81-4EB2-BA3A-6E616C45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separation gate failed</a:t>
            </a:r>
          </a:p>
        </p:txBody>
      </p:sp>
    </p:spTree>
    <p:extLst>
      <p:ext uri="{BB962C8B-B14F-4D97-AF65-F5344CB8AC3E}">
        <p14:creationId xmlns:p14="http://schemas.microsoft.com/office/powerpoint/2010/main" val="10853162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94377-28C7-4315-9112-70FD95E9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7335E-54FE-4263-8F14-27C40E4C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B8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B8A6"/>
                </a:solidFill>
                <a:latin typeface="Aptos"/>
                <a:ea typeface="Aptos"/>
                <a:cs typeface="Aptos"/>
              </a:rPr>
              <a:t>01  /  reference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F35C9-DD41-41FE-9638-8C94810F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Target reference and positive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3B6BC-281A-49DC-A9FC-33C57F6F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718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7184"/>
                </a:solidFill>
                <a:latin typeface="Aptos"/>
                <a:ea typeface="Aptos"/>
                <a:cs typeface="Aptos"/>
              </a:rPr>
              <a:t>15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A959D-DCC8-4AAA-9816-E11775D5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The benchmark molecule is KRpep-2d bound to GDP-state KRAS G12D in 5XCO.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dd110d041481e"/>
          <a:stretch xmlns:a="http://schemas.openxmlformats.org/drawingml/2006/main"/>
        </p:blipFill>
        <p:spPr>
          <a:xfrm xmlns:a="http://schemas.openxmlformats.org/drawingml/2006/main">
            <a:off x="777875" y="1790700"/>
            <a:ext cx="4064000" cy="3048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6F845-09C6-4C6C-A4EE-BFB21BA4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28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KRpep-2d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D6AAE-7650-4E4A-90AB-823960A4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098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7528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75288"/>
                </a:solidFill>
                <a:latin typeface="Aptos"/>
                <a:ea typeface="Aptos"/>
                <a:cs typeface="Aptos"/>
              </a:rPr>
              <a:t>Ac-RRRRCPLYISYDPVCRRRR-NH2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B1D1C-97DF-424E-9E7E-C5C8160F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717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7184"/>
                </a:solidFill>
                <a:latin typeface="Aptos"/>
                <a:ea typeface="Aptos"/>
                <a:cs typeface="Aptos"/>
              </a:rPr>
              <a:t>19 residues  |  Cys5–Cys15 disulfide  |  N-acetyl  |  C-terminal amide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524500" y="3162300"/>
          <a:ext xmlns:a="http://schemas.openxmlformats.org/drawingml/2006/main" cx="57150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428750"/>
                <a:gridCol w="1428750"/>
                <a:gridCol w="1428750"/>
              </a:tblGrid>
              <a:tr h="35718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Assay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KRAS G12D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KRAS WT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WT / G12D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SPR KD, GDP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8.9 nM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58 nM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6.52×</a:t>
                      </a:r>
                    </a:p>
                  </a:txBody>
                  <a:tcPr marL="91440" marR="91440" marT="45720" marB="45720"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SPR KD, GTP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11 nM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200 nM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18.18×</a:t>
                      </a:r>
                    </a:p>
                  </a:txBody>
                  <a:tcPr marL="91440" marR="91440" marT="45720" marB="45720"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Meaning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affinity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affinity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arithmetic ratio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635DC-D62E-4F49-9FBB-38571234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76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A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7184"/>
                </a:solidFill>
                <a:latin typeface="Aptos"/>
                <a:ea typeface="Aptos"/>
                <a:cs typeface="Aptos"/>
              </a:rPr>
              <a:t>Source: Sogabe et al. 2017, 5XCO / crystal paper. Ratios are arithmetic from Table 1.</a:t>
            </a:r>
          </a:p>
        </p:txBody>
      </p:sp>
    </p:spTree>
    <p:extLst>
      <p:ext uri="{BB962C8B-B14F-4D97-AF65-F5344CB8AC3E}">
        <p14:creationId xmlns:p14="http://schemas.microsoft.com/office/powerpoint/2010/main" val="12724382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A2915A-2A42-4D93-B92D-5A971337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7DF93-AA30-4153-B05E-A497BE78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B8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B8A6"/>
                </a:solidFill>
                <a:latin typeface="Aptos"/>
                <a:ea typeface="Aptos"/>
                <a:cs typeface="Aptos"/>
              </a:rPr>
              <a:t>02  /  method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DE082-9990-4EFA-82E9-2DA5C100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Validation workflow and ESMC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9E8B5-1670-48B4-AD16-D10D8924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718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7184"/>
                </a:solidFill>
                <a:latin typeface="Aptos"/>
                <a:ea typeface="Aptos"/>
                <a:cs typeface="Aptos"/>
              </a:rPr>
              <a:t>15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04306-4E10-4B2C-B864-82F5A18D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The campaign moved from sequence diagnostics to two control revisions, then stopped at the declared gate.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1D45F-18A4-4DA2-8A07-A57F9F49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8763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EAF3D-B87C-43FC-921E-E21CBC05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ED6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ED6D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906E4-9E91-4FAF-A37F-09BD657B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66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D309D-0FE8-4C86-9C1D-A70DDFDA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526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7184"/>
                </a:solidFill>
                <a:latin typeface="Aptos"/>
                <a:ea typeface="Aptos"/>
                <a:cs typeface="Aptos"/>
              </a:rPr>
              <a:t>5XCO + GDP-state KRAS4B 1–169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CDC05-55BF-43DA-A7CC-48006E34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57450"/>
            <a:ext cx="28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9A276-119B-4420-A780-7A61AD4C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8763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A91F0-8D08-4F5D-A5B0-F802E17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ED6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ED6D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50C1B-A03C-492A-A119-736D1FE3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05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Sequence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A07D31-EB57-4A86-8059-A56B3428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90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7184"/>
                </a:solidFill>
                <a:latin typeface="Aptos"/>
                <a:ea typeface="Aptos"/>
                <a:cs typeface="Aptos"/>
              </a:rPr>
              <a:t>ESMC300M profile, seed 17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BFB82-E840-47F5-B488-B81185D8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95650"/>
            <a:ext cx="28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31B2E-84D1-4DC2-979F-9FE603F0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8763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A0C22-6EE8-4741-A307-257326AF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ED6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ED6D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9B783-0D1A-4517-8C5E-58E30502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43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Boltz controls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5B413-0085-4BC2-A365-9F594755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29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7184"/>
                </a:solidFill>
                <a:latin typeface="Aptos"/>
                <a:ea typeface="Aptos"/>
                <a:cs typeface="Aptos"/>
              </a:rPr>
              <a:t>12 runs: 2 identities x 3 seeds x 2 representations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730C9C-6AE1-4FE9-9EAF-00B12B37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33850"/>
            <a:ext cx="28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223A7A-E9C5-43DA-94F4-9D118E7E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8763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97081A-4452-4A87-8AA3-8619841D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ED6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ED6D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670E51-3FF9-4496-8AB7-9830485E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81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Protenix 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050ECE-3266-494F-B7B8-9A3F5686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7184"/>
                </a:solidFill>
                <a:latin typeface="Aptos"/>
                <a:ea typeface="Aptos"/>
                <a:cs typeface="Aptos"/>
              </a:rPr>
              <a:t>6 runs: 2 identities x 3 seeds; chemistry failed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EC288A-F397-438B-98ED-B583506D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972050"/>
            <a:ext cx="28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BA5FD7-C849-46EF-94E5-E93C73E4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8763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8D0B65-28C9-4515-82A3-1E741895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ED6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ED6D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5BA3F7-14B9-487F-B8FC-B08FC6E3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EC66BC-DD4A-4028-89CC-8CFF4DC7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054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7184"/>
                </a:solidFill>
                <a:latin typeface="Aptos"/>
                <a:ea typeface="Aptos"/>
                <a:cs typeface="Aptos"/>
              </a:rPr>
              <a:t>No candidate generation after failed separation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1803B5-2E05-4C62-BC72-C898484F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381250" cy="3238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F76277-D6AB-4F32-BF32-680F6FB7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B8A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B8A6"/>
                </a:solidFill>
                <a:latin typeface="Aptos"/>
                <a:ea typeface="Aptos"/>
                <a:cs typeface="Aptos"/>
              </a:rPr>
              <a:t>What ESMC can support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64622E-2838-4214-AC95-CDB41DD6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171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Sequence-model diagnostics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Masked-logit profile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No pocket affinity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No binding classifier</a:t>
            </a:r>
          </a:p>
        </p:txBody>
      </p:sp>
    </p:spTree>
    <p:extLst>
      <p:ext uri="{BB962C8B-B14F-4D97-AF65-F5344CB8AC3E}">
        <p14:creationId xmlns:p14="http://schemas.microsoft.com/office/powerpoint/2010/main" val="18777087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20A823-F3E8-4B57-A417-DF435505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3979F-A72A-46A7-80D0-4B3E25C9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B8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B8A6"/>
                </a:solidFill>
                <a:latin typeface="Aptos"/>
                <a:ea typeface="Aptos"/>
                <a:cs typeface="Aptos"/>
              </a:rPr>
              <a:t>03  /  v1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5EFDD-3A8D-44E2-8E79-619B1919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Revision 1: confidence did not separate the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58D64-2597-499D-BB8B-76A9EE06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718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7184"/>
                </a:solidFill>
                <a:latin typeface="Aptos"/>
                <a:ea typeface="Aptos"/>
                <a:cs typeface="Aptos"/>
              </a:rPr>
              <a:t>15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0FFD9-DDB5-4F12-9988-347E736A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The positive and proposed scramble scored almost identically across all three seeds.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477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c9bb0558aa4bd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8C16A-805E-4902-8BFB-709E2BE1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36195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D79E3-78A7-4DB5-929E-C0D07259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574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ED6D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ED6D0"/>
                </a:solidFill>
                <a:latin typeface="Aptos"/>
                <a:ea typeface="Aptos"/>
                <a:cs typeface="Aptos"/>
              </a:rPr>
              <a:t>Mean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0A002-C943-432F-A237-782C93F7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62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−0.003868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38F32-A998-4E21-9684-864675F5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81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required  ≥  +0.15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47710-CBA7-4266-AB34-43383CAA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752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75288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B4EF1-7FA3-463A-B20B-89BFA5CA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4810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Positive exceeded scramble in 2/3 seeds, but the mean-gap criterion failed. No seeds were dropped or repeated.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46B56-3645-48B1-8384-A6843AC8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482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71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7184"/>
                </a:solidFill>
                <a:latin typeface="Aptos"/>
                <a:ea typeface="Aptos"/>
                <a:cs typeface="Aptos"/>
              </a:rPr>
              <a:t>Confidence is not affinity. The scramble was a proposed negative control, not an experimentally established nonbinder.</a:t>
            </a:r>
          </a:p>
        </p:txBody>
      </p:sp>
    </p:spTree>
    <p:extLst>
      <p:ext uri="{BB962C8B-B14F-4D97-AF65-F5344CB8AC3E}">
        <p14:creationId xmlns:p14="http://schemas.microsoft.com/office/powerpoint/2010/main" val="18215543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4BD0F9-34C8-45A3-9138-E2C3010F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0CF8D-173F-4B73-9379-AB22FA0B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B8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B8A6"/>
                </a:solidFill>
                <a:latin typeface="Aptos"/>
                <a:ea typeface="Aptos"/>
                <a:cs typeface="Aptos"/>
              </a:rPr>
              <a:t>04  /  v2 representation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0B3AC-2124-4421-94D8-4320C5E1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Revision 2: chemistry repair passed the declared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C52DE-F0A2-4CC0-8143-AB441123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718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7184"/>
                </a:solidFill>
                <a:latin typeface="Aptos"/>
                <a:ea typeface="Aptos"/>
                <a:cs typeface="Aptos"/>
              </a:rPr>
              <a:t>15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545C3-E316-49FE-A126-58719CEB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Full molecular graphs preserved the intended control identities across every saved prediction.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71500" y="1828800"/>
          <a:ext xmlns:a="http://schemas.openxmlformats.org/drawingml/2006/main" cx="72390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4572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Seeds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Bonds in bounds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Stereocenters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Critical links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KRpep-2d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17 · 42 · 101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183 / 183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20 / 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SCRAMBLE-20260914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17 · 42 · 101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183 / 183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20 / 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Gate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all six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Meaning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geometry 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B3D"/>
                          </a:solidFill>
                        </a:rPr>
                        <a:t>not biological activity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17E91-8668-4AD3-A984-D84E7ADB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28800"/>
            <a:ext cx="2857500" cy="300037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EE94F-4F49-4817-ACC3-0252FAB9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B8A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B8A6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731D2-4463-4A9E-AEB2-DCE195EF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241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Complete SMILES / graph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7BCD9-1282-4835-9EFF-1DD9CC5E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183 molecular bonds checked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044C0-8797-46E7-BF93-4D45A953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20 mapped stereocenters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D3EBE-7589-479E-88BD-855F5B9A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24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All six outputs retained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77F52-A8E6-43C3-AC01-6DBDEA6F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A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7184"/>
                </a:solidFill>
                <a:latin typeface="Aptos"/>
                <a:ea typeface="Aptos"/>
                <a:cs typeface="Aptos"/>
              </a:rPr>
              <a:t>Chemistry pass supports representation integrity under these checks. It does not validate molecular energy or biological activity.</a:t>
            </a:r>
          </a:p>
        </p:txBody>
      </p:sp>
    </p:spTree>
    <p:extLst>
      <p:ext uri="{BB962C8B-B14F-4D97-AF65-F5344CB8AC3E}">
        <p14:creationId xmlns:p14="http://schemas.microsoft.com/office/powerpoint/2010/main" val="11443682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50A10-E94C-4B9D-9080-3F29C86E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C7F73-4763-4DFE-80BC-2B7CDC8A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B8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B8A6"/>
                </a:solidFill>
                <a:latin typeface="Aptos"/>
                <a:ea typeface="Aptos"/>
                <a:cs typeface="Aptos"/>
              </a:rPr>
              <a:t>05  /  v2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B47F4-D2D7-4C3F-A07C-8C74355A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Revision 2: chemistry passed, separation still failed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E1C42-7A11-492E-A362-3402F710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718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7184"/>
                </a:solidFill>
                <a:latin typeface="Aptos"/>
                <a:ea typeface="Aptos"/>
                <a:cs typeface="Aptos"/>
              </a:rPr>
              <a:t>15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08837-C50D-46ED-9221-33219B85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The within-revision mean confidence gap remained below the preregistered threshold.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1912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941020d3fe449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9D6ED-8751-4360-B30D-FA00F0C8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28800"/>
            <a:ext cx="38100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C9B8B-7F8B-42C8-9FF3-7064D8F5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ED6D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ED6D0"/>
                </a:solidFill>
                <a:latin typeface="Aptos"/>
                <a:ea typeface="Aptos"/>
                <a:cs typeface="Aptos"/>
              </a:rPr>
              <a:t>Observed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E58D8-7065-44AD-B2D8-33AC2AD7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431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+0.033214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A980C-091D-474A-A309-9460BD38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43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required  ≥  +0.150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7429500" y="3448050"/>
          <a:ext xmlns:a="http://schemas.openxmlformats.org/drawingml/2006/main" cx="38100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952500"/>
                <a:gridCol w="952500"/>
                <a:gridCol w="952500"/>
              </a:tblGrid>
              <a:tr h="3571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Seed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Positive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Scramble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B3D"/>
                          </a:solidFill>
                        </a:rPr>
                        <a:t>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B3D"/>
                          </a:solidFill>
                        </a:rPr>
                        <a:t>0.5640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B3D"/>
                          </a:solidFill>
                        </a:rPr>
                        <a:t>0.6509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B3D"/>
                          </a:solidFill>
                        </a:rPr>
                        <a:t>−0.0870</a:t>
                      </a:r>
                    </a:p>
                  </a:txBody>
                  <a:tcPr marL="91440" marR="91440" marT="45720" marB="45720"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B3D"/>
                          </a:solidFill>
                        </a:rPr>
                        <a:t>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B3D"/>
                          </a:solidFill>
                        </a:rPr>
                        <a:t>0.6490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B3D"/>
                          </a:solidFill>
                        </a:rPr>
                        <a:t>0.4855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B3D"/>
                          </a:solidFill>
                        </a:rPr>
                        <a:t>+0.1636</a:t>
                      </a:r>
                    </a:p>
                  </a:txBody>
                  <a:tcPr marL="91440" marR="91440" marT="45720" marB="45720"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B3D"/>
                          </a:solidFill>
                        </a:rPr>
                        <a:t>101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B3D"/>
                          </a:solidFill>
                        </a:rPr>
                        <a:t>0.6569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B3D"/>
                          </a:solidFill>
                        </a:rPr>
                        <a:t>0.6338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B3D"/>
                          </a:solidFill>
                        </a:rPr>
                        <a:t>+0.0230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74A41-3501-4044-97B8-B2BA1E23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625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752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5288"/>
                </a:solidFill>
                <a:latin typeface="Aptos"/>
                <a:ea typeface="Aptos"/>
                <a:cs typeface="Aptos"/>
              </a:rPr>
              <a:t>Positive wins 2/3 paired seeds. The mean-gap criterion fails.</a:t>
            </a:r>
          </a:p>
        </p:txBody>
      </p:sp>
    </p:spTree>
    <p:extLst>
      <p:ext uri="{BB962C8B-B14F-4D97-AF65-F5344CB8AC3E}">
        <p14:creationId xmlns:p14="http://schemas.microsoft.com/office/powerpoint/2010/main" val="650727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498AF-C5C0-4729-9595-9394FBAB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74821-E009-4600-A93B-892F25C5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B8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B8A6"/>
                </a:solidFill>
                <a:latin typeface="Aptos"/>
                <a:ea typeface="Aptos"/>
                <a:cs typeface="Aptos"/>
              </a:rPr>
              <a:t>06  /  literature and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9BE86-C297-4F18-9529-A5F13186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Next benchmark: verified controls before any new inference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B3087-9092-4049-8360-4758DFD9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718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7184"/>
                </a:solidFill>
                <a:latin typeface="Aptos"/>
                <a:ea typeface="Aptos"/>
                <a:cs typeface="Aptos"/>
              </a:rPr>
              <a:t>15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DB7AF-16AB-4FAB-A701-2659B430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The evidence supports a bounded benchmark plan, not a claim of generalization.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874E9-C371-4E81-92EC-C8FFF9D6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B8A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B8A6"/>
                </a:solidFill>
                <a:latin typeface="Aptos"/>
                <a:ea typeface="Aptos"/>
                <a:cs typeface="Aptos"/>
              </a:rPr>
              <a:t>Literature anchors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8806D-46E6-4A6F-B4BF-968DE0DF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Lim et al. (2021)</a:t>
            </a:r>
          </a:p>
          <a:p xmlns:a="http://schemas.openxmlformats.org/drawingml/2006/main">
            <a:pPr>
              <a:defRPr sz="135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Disulfide / thioacetal chemistry changes the molecule and assay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Guan &amp; Keating (2025)</a:t>
            </a:r>
          </a:p>
          <a:p xmlns:a="http://schemas.openxmlformats.org/drawingml/2006/main">
            <a:pPr>
              <a:defRPr sz="135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High-confidence incorrect peptide poses show confidence can mislead.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Li et al. (2026, preprint)</a:t>
            </a:r>
          </a:p>
          <a:p xmlns:a="http://schemas.openxmlformats.org/drawingml/2006/main">
            <a:pPr>
              <a:defRPr sz="135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Pose confidence and ranking are separate questions in cyclic-peptide benchmarks.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80805-E2CC-4CB1-9DCA-834D2494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504825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26C35-DA9D-4130-A7BE-1F1267F0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193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Boundaries for the next benchmark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06D72-4991-474B-94E0-260834FF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76500"/>
            <a:ext cx="4191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• Verify exact chemistry and assay meaning for every control</a:t>
            </a:r>
          </a:p>
          <a:p xmlns:a="http://schemas.openxmlformats.org/drawingml/2006/main">
            <a:pPr>
              <a:defRPr sz="135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• Keep pose metrics separate from confidence and binding</a:t>
            </a:r>
          </a:p>
          <a:p xmlns:a="http://schemas.openxmlformats.org/drawingml/2006/main">
            <a:pPr>
              <a:defRPr sz="135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• Treat 18 runs as model runs of 2 identities, not biological replicates</a:t>
            </a:r>
          </a:p>
          <a:p xmlns:a="http://schemas.openxmlformats.org/drawingml/2006/main">
            <a:pPr>
              <a:defRPr sz="135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• Use declared criteria before any new outputs</a:t>
            </a:r>
          </a:p>
          <a:p xmlns:a="http://schemas.openxmlformats.org/drawingml/2006/main">
            <a:pPr>
              <a:defRPr sz="135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• Stop after the bounded batch if the gate remains inconclusive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CAD9B-A693-4F94-BE97-F3CBE03F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752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75288"/>
                </a:solidFill>
                <a:latin typeface="Aptos"/>
                <a:ea typeface="Aptos"/>
                <a:cs typeface="Aptos"/>
              </a:rPr>
              <a:t>Discussion focus: are the verified controls and pose metrics sufficient for a later candidate-selection study?</a:t>
            </a:r>
          </a:p>
        </p:txBody>
      </p:sp>
    </p:spTree>
    <p:extLst>
      <p:ext uri="{BB962C8B-B14F-4D97-AF65-F5344CB8AC3E}">
        <p14:creationId xmlns:p14="http://schemas.microsoft.com/office/powerpoint/2010/main" val="12924692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B45C2-6760-4232-B301-F013BD93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AD7E5-E3AC-492A-9BCB-C8C8B38D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B8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B8A6"/>
                </a:solidFill>
                <a:latin typeface="Aptos"/>
                <a:ea typeface="Aptos"/>
                <a:cs typeface="Aptos"/>
              </a:rPr>
              <a:t>07  / 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2BF3D-518D-497F-8A7E-E8C53BF4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Conclusion and reproducible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213BB-0F53-46D8-AF8D-A37492D7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718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7184"/>
                </a:solidFill>
                <a:latin typeface="Aptos"/>
                <a:ea typeface="Aptos"/>
                <a:cs typeface="Aptos"/>
              </a:rPr>
              <a:t>15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B5640-1DB3-425F-9506-25C99FF0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Chemistry repair improved input integrity. Control separation remains insufficient for candidate selection.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5F923-6663-4D1A-A1F8-082BCF68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4005E-6DBE-4F0E-899F-7C466018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ED6D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ED6D0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0B1E8-CCF9-4D2B-9E56-8B71C2E4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089E1-DA49-4A2F-BA41-929D0D43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 candidate-generation 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7B6A4-B873-44C5-92BB-29239881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B8A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B8A6"/>
                </a:solidFill>
                <a:latin typeface="Aptos"/>
                <a:ea typeface="Aptos"/>
                <a:cs typeface="Aptos"/>
              </a:rPr>
              <a:t>Repro package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5BD29-0E35-41D1-B641-ABCA6293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14600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18 retained control predictions</a:t>
            </a:r>
          </a:p>
          <a:p xmlns:a="http://schemas.openxmlformats.org/drawingml/2006/main">
            <a:pPr>
              <a:defRPr sz="14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12 Boltz + 6 Protenix</a:t>
            </a:r>
          </a:p>
          <a:p xmlns:a="http://schemas.openxmlformats.org/drawingml/2006/main">
            <a:pPr>
              <a:defRPr sz="14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Per-seed CSVs and gate summaries</a:t>
            </a:r>
          </a:p>
          <a:p xmlns:a="http://schemas.openxmlformats.org/drawingml/2006/main">
            <a:pPr>
              <a:defRPr sz="14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Saved structures and hashes</a:t>
            </a:r>
          </a:p>
          <a:p xmlns:a="http://schemas.openxmlformats.org/drawingml/2006/main">
            <a:pPr>
              <a:defRPr sz="14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Offline reproduction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1CEFA-9EDC-46CE-B1C3-F44E46C9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B8A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B8A6"/>
                </a:solidFill>
                <a:latin typeface="Aptos"/>
                <a:ea typeface="Aptos"/>
                <a:cs typeface="Aptos"/>
              </a:rPr>
              <a:t>Dashboard guide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1FE5E-54C2-41FB-B81C-82F4A7CA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14600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Use the all-18 table's View pose for one selected row. Set Model / representation to reference, v1, v2 or protenix, then choose Control and Seed. The UI shows one selected prediction plus the reference at a time. Use Reference peptide, Predicted target, Target surface and Prediction focus; change Seed to compare runs.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B8D6C-3867-45C0-A6C2-4961B3C8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752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5288"/>
                </a:solidFill>
                <a:latin typeface="Aptos"/>
                <a:ea typeface="Aptos"/>
                <a:cs typeface="Aptos"/>
              </a:rPr>
              <a:t>Discussion framing: chemistry integrity improved, but confidence separation and reference-pose recovery remain inadequate for candidate selection.</a:t>
            </a:r>
          </a:p>
        </p:txBody>
      </p:sp>
    </p:spTree>
    <p:extLst>
      <p:ext uri="{BB962C8B-B14F-4D97-AF65-F5344CB8AC3E}">
        <p14:creationId xmlns:p14="http://schemas.microsoft.com/office/powerpoint/2010/main" val="2951704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4BA072-1841-49F5-BAD8-06103CC8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C4FE5-7378-43F9-B8B5-DF56A2F7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B8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B8A6"/>
                </a:solidFill>
                <a:latin typeface="Aptos"/>
                <a:ea typeface="Aptos"/>
                <a:cs typeface="Aptos"/>
              </a:rPr>
              <a:t>08  /  independent model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80D49-AAE7-43BE-A06B-96D82B9E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Protenix diagnostic addendum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77670-2926-4515-83DB-0EDB2F00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718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7184"/>
                </a:solidFill>
                <a:latin typeface="Aptos"/>
                <a:ea typeface="Aptos"/>
                <a:cs typeface="Aptos"/>
              </a:rPr>
              <a:t>15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657BE-010D-4A7C-AE34-22D00D0F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A separate Protenix diagnostic completed six runs after the Boltz gates had already failed. It adds evidence, not candidate selection.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21807-51C4-4C22-97B5-93FE06DE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495300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706FD-6D5A-4AE8-8035-ECD233EA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ED6D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ED6D0"/>
                </a:solidFill>
                <a:latin typeface="Aptos"/>
                <a:ea typeface="Aptos"/>
                <a:cs typeface="Aptos"/>
              </a:rPr>
              <a:t>Protenix-v2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5B33E-8CAB-4FF6-968B-7FDCB488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failed before prediction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007C4-5CEF-499E-A3D8-B69338A0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Output: 0 CIFs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F4F92-E50F-436C-AA63-9A1250C3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14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8E8E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8EE"/>
                </a:solidFill>
                <a:latin typeface="Aptos"/>
                <a:ea typeface="Aptos"/>
                <a:cs typeface="Aptos"/>
              </a:rPr>
              <a:t>Checkpoint HTTP 403 before prediction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F4321-0655-4494-8D8E-3F422512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47850"/>
            <a:ext cx="495300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7F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2E23C-F892-4099-9503-461B80F4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14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B8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B8A6"/>
                </a:solidFill>
                <a:latin typeface="Aptos"/>
                <a:ea typeface="Aptos"/>
                <a:cs typeface="Aptos"/>
              </a:rPr>
              <a:t>Full base 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79711-4C4A-4CF4-9603-1704CB81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CD49C-4D1F-40C4-8DFA-F750104E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14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Model: protenix_base_default_v1.0.0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35770-C805-46F8-B333-1CDF92BF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81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Output: 6 CIFs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762000" y="3857625"/>
          <a:ext xmlns:a="http://schemas.openxmlformats.org/drawingml/2006/main" cx="10668000" cy="1285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56000"/>
                <a:gridCol w="3556000"/>
                <a:gridCol w="3556000"/>
              </a:tblGrid>
              <a:tr h="32146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Current evidence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Boundary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32146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62B3D"/>
                          </a:solidFill>
                        </a:rPr>
                        <a:t>Why not v2?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62B3D"/>
                          </a:solidFill>
                        </a:rPr>
                        <a:t>Official checkpoint returned HTTP 403 before model load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62B3D"/>
                          </a:solidFill>
                        </a:rPr>
                        <a:t>No v2 predictions were produced</a:t>
                      </a:r>
                    </a:p>
                  </a:txBody>
                  <a:tcPr marL="91440" marR="91440" marT="45720" marB="45720"/>
                </a:tc>
              </a:tr>
              <a:tr h="32146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62B3D"/>
                          </a:solidFill>
                        </a:rPr>
                        <a:t>Base result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62B3D"/>
                          </a:solidFill>
                        </a:rPr>
                        <a:t>6 CIFs; positive 0/41 each seed (17, 42, 101); scramble NA; RMSD 29.06 / 30.93 / 30.58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62B3D"/>
                          </a:solidFill>
                        </a:rPr>
                        <a:t>Chemistry checks failed</a:t>
                      </a:r>
                    </a:p>
                  </a:txBody>
                  <a:tcPr marL="91440" marR="91440" marT="45720" marB="45720"/>
                </a:tc>
              </a:tr>
              <a:tr h="32146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62B3D"/>
                          </a:solidFill>
                        </a:rPr>
                        <a:t>Research use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62B3D"/>
                          </a:solidFill>
                        </a:rPr>
                        <a:t>One selected prediction + reference; change Seed to compare runs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62B3D"/>
                          </a:solidFill>
                        </a:rPr>
                        <a:t>Descriptive only; no new gate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58ED91-2695-43CB-9D77-835C1AAD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752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5288"/>
                </a:solidFill>
                <a:latin typeface="Aptos"/>
                <a:ea typeface="Aptos"/>
                <a:cs typeface="Aptos"/>
              </a:rPr>
              <a:t>Protenix base positive control recovered 0/41 native contacts in each seed; scramble is NA. Chemistry checks failed and the Boltz stop decision remains unchanged.</a:t>
            </a:r>
          </a:p>
        </p:txBody>
      </p:sp>
    </p:spTree>
    <p:extLst>
      <p:ext uri="{BB962C8B-B14F-4D97-AF65-F5344CB8AC3E}">
        <p14:creationId xmlns:p14="http://schemas.microsoft.com/office/powerpoint/2010/main" val="17451019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2026-09-15T18:37:56.4690000Z</dcterms:created>
  <dcterms:modified xsi:type="dcterms:W3CDTF">2026-09-15T18:37:56.4690000Z</dcterms:modified>
</coreProperties>
</file>